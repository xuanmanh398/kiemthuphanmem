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02920"/>
            <a:ext cx="10728655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BAE6FD"/>
                </a:solidFill>
                <a:latin typeface="Segoe UI"/>
              </a:defRPr>
            </a:pPr>
            <a:r>
              <a:t>TRƯỜNG ĐẠI HỌC CÔNG NGHỆ ĐÔNG Á (EAUT) • KHOA CÔNG NGHỆ THÔNG 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728655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BÁO CÁO BÀI TẬP LỚN • HỌC PHẦN: KIỂM THỬ PHẦN MỀM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2600" b="1">
                <a:solidFill>
                  <a:srgbClr val="FFFFFF"/>
                </a:solidFill>
                <a:latin typeface="Segoe UI"/>
              </a:defRPr>
            </a:pPr>
            <a:r>
              <a:t>ĐỀ TÀI 4: KIỂM THỬ WEBSITE QUẢN LÝ CỬA HÀNG</a:t>
            </a:r>
            <a:br/>
            <a:r>
              <a:t>DỊCH VỤ CHĂM SÓC THÚ CƯNG</a:t>
            </a:r>
          </a:p>
          <a:p>
            <a:pPr>
              <a:defRPr sz="1300">
                <a:solidFill>
                  <a:srgbClr val="CBD5E1"/>
                </a:solidFill>
                <a:latin typeface="Segoe UI"/>
              </a:defRPr>
            </a:pPr>
            <a:r>
              <a:t>Giải pháp Đảm bảo Chất lượng Phần mềm Toàn diện • 240 Ca kiểm thử (Đơn vị - Tích hợp - Hệ thống Tự động hóa)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566160"/>
            <a:ext cx="3429000" cy="2057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200"/>
              </a:spcAft>
              <a:defRPr sz="1150" b="1">
                <a:solidFill>
                  <a:srgbClr val="38BDF8"/>
                </a:solidFill>
                <a:latin typeface="Segoe UI"/>
              </a:defRPr>
            </a:pPr>
            <a:r>
              <a:t>★ TRƯỞNG NHÓM</a:t>
            </a:r>
          </a:p>
          <a:p>
            <a:pPr>
              <a:spcAft>
                <a:spcPts val="400"/>
              </a:spcAft>
              <a:defRPr sz="1750" b="1">
                <a:solidFill>
                  <a:srgbClr val="FFFFFF"/>
                </a:solidFill>
                <a:latin typeface="Segoe UI"/>
              </a:defRPr>
            </a:pPr>
            <a:r>
              <a:t>Đặng Văn Mạnh</a:t>
            </a:r>
          </a:p>
          <a:p>
            <a:pPr>
              <a:spcAft>
                <a:spcPts val="400"/>
              </a:spcAft>
              <a:defRPr sz="1100" b="1">
                <a:solidFill>
                  <a:srgbClr val="BAE6FD"/>
                </a:solidFill>
                <a:latin typeface="Segoe UI"/>
              </a:defRPr>
            </a:pPr>
            <a:r>
              <a:t>MSV: 20232652 • Lớp: DCCNTT 14.C.3</a:t>
            </a:r>
          </a:p>
          <a:p>
            <a:pPr>
              <a:defRPr sz="1150">
                <a:solidFill>
                  <a:srgbClr val="CBD5E1"/>
                </a:solidFill>
                <a:latin typeface="Segoe UI"/>
              </a:defRPr>
            </a:pPr>
            <a:r>
              <a:t>Phụ trách Kiểm thử Đơn vị (Unit Test) &amp; Kiểm thử Tự động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6" y="3566160"/>
            <a:ext cx="3429000" cy="2057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200"/>
              </a:spcAft>
              <a:defRPr sz="1150" b="1">
                <a:solidFill>
                  <a:srgbClr val="38BDF8"/>
                </a:solidFill>
                <a:latin typeface="Segoe UI"/>
              </a:defRPr>
            </a:pPr>
            <a:r>
              <a:t>★ THÀNH VIÊN</a:t>
            </a:r>
          </a:p>
          <a:p>
            <a:pPr>
              <a:spcAft>
                <a:spcPts val="400"/>
              </a:spcAft>
              <a:defRPr sz="1750" b="1">
                <a:solidFill>
                  <a:srgbClr val="FFFFFF"/>
                </a:solidFill>
                <a:latin typeface="Segoe UI"/>
              </a:defRPr>
            </a:pPr>
            <a:r>
              <a:t>Trần Ngọc Sơn</a:t>
            </a:r>
          </a:p>
          <a:p>
            <a:pPr>
              <a:spcAft>
                <a:spcPts val="400"/>
              </a:spcAft>
              <a:defRPr sz="1100" b="1">
                <a:solidFill>
                  <a:srgbClr val="BAE6FD"/>
                </a:solidFill>
                <a:latin typeface="Segoe UI"/>
              </a:defRPr>
            </a:pPr>
            <a:r>
              <a:t>MSV: 20232472 • Lớp: DCCNTT 14.C.3</a:t>
            </a:r>
          </a:p>
          <a:p>
            <a:pPr>
              <a:defRPr sz="1150">
                <a:solidFill>
                  <a:srgbClr val="CBD5E1"/>
                </a:solidFill>
                <a:latin typeface="Segoe UI"/>
              </a:defRPr>
            </a:pPr>
            <a:r>
              <a:t>Phụ trách Kiểm thử Tích hợp (Integration Test) &amp; Báo cáo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28432" y="3566160"/>
            <a:ext cx="3429000" cy="2057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200"/>
              </a:spcAft>
              <a:defRPr sz="1150" b="1">
                <a:solidFill>
                  <a:srgbClr val="38BDF8"/>
                </a:solidFill>
                <a:latin typeface="Segoe UI"/>
              </a:defRPr>
            </a:pPr>
            <a:r>
              <a:t>★ THÀNH VIÊN</a:t>
            </a:r>
          </a:p>
          <a:p>
            <a:pPr>
              <a:spcAft>
                <a:spcPts val="400"/>
              </a:spcAft>
              <a:defRPr sz="1750" b="1">
                <a:solidFill>
                  <a:srgbClr val="FFFFFF"/>
                </a:solidFill>
                <a:latin typeface="Segoe UI"/>
              </a:defRPr>
            </a:pPr>
            <a:r>
              <a:t>Ngô Hoàng Anh</a:t>
            </a:r>
          </a:p>
          <a:p>
            <a:pPr>
              <a:spcAft>
                <a:spcPts val="400"/>
              </a:spcAft>
              <a:defRPr sz="1100" b="1">
                <a:solidFill>
                  <a:srgbClr val="BAE6FD"/>
                </a:solidFill>
                <a:latin typeface="Segoe UI"/>
              </a:defRPr>
            </a:pPr>
            <a:r>
              <a:t>MSV: 20232558 • Lớp: DCCNTT 14.C.3</a:t>
            </a:r>
          </a:p>
          <a:p>
            <a:pPr>
              <a:defRPr sz="1150">
                <a:solidFill>
                  <a:srgbClr val="CBD5E1"/>
                </a:solidFill>
                <a:latin typeface="Segoe UI"/>
              </a:defRPr>
            </a:pPr>
            <a:r>
              <a:t>Phụ trách Kiểm thử Hệ thống (System Test) &amp; Giao diện UI/UX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0644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94A3B8"/>
                </a:solidFill>
                <a:latin typeface="Segoe UI"/>
              </a:defRPr>
            </a:pPr>
            <a:r>
              <a:t>Giảng viên hướng dẫn: ThS. Hoàng Thị Phương Lan • Nhóm 9 • Lớp tín chỉ: Kiểm thử phần mềm-1-1-26(N04) • Hà Nội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GIỚI THIỆU TỔNG QUAN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Website Quản Lý Cửa Hàng Dịch Vụ Thú Cưng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2900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1. BỐI CẢNH &amp; NHU CẦU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Vấn đề quản lý dịch vụ thú cưng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Quản lý thủ công: </a:t>
            </a:r>
            <a:r>
              <a:rPr sz="1250">
                <a:solidFill>
                  <a:srgbClr val="334155"/>
                </a:solidFill>
                <a:latin typeface="Segoe UI"/>
              </a:rPr>
              <a:t>Dễ thất thoát doanh thu, nhầm lẫn lịch hẹn Spa/Làm đẹp của khách hàng.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Tồn kho phức tạp: </a:t>
            </a:r>
            <a:r>
              <a:rPr sz="1250">
                <a:solidFill>
                  <a:srgbClr val="334155"/>
                </a:solidFill>
                <a:latin typeface="Segoe UI"/>
              </a:rPr>
              <a:t>Nhiều loại hàng hóa, thức ăn, phụ kiện có hạn sử dụng và biến động liên tục.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Nhu cầu số hóa: </a:t>
            </a:r>
            <a:r>
              <a:rPr sz="1250">
                <a:solidFill>
                  <a:srgbClr val="334155"/>
                </a:solidFill>
                <a:latin typeface="Segoe UI"/>
              </a:rPr>
              <a:t>Cần phần mềm quản lý thông tin thú cưng, hồ sơ khám bệnh, tiêm phòng và lịch sử dịch vụ.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Mục tiêu phần mềm: </a:t>
            </a:r>
            <a:r>
              <a:rPr sz="1250">
                <a:solidFill>
                  <a:srgbClr val="334155"/>
                </a:solidFill>
                <a:latin typeface="Segoe UI"/>
              </a:rPr>
              <a:t>Tối ưu hóa quy trình bán hàng POS, đặt lịch nhanh chóng, tăng trải nghiệm khách hàng.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3099816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75985"/>
                </a:solidFill>
                <a:latin typeface="Segoe UI"/>
              </a:defRPr>
            </a:pPr>
            <a:r>
              <a:t>★ Chuyển đổi số toàn diện cho Cửa hàng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79976" y="1280160"/>
            <a:ext cx="3429000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2. PHÂN HỆ CHỨC NĂNG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6 Module nghiệp vụ trọng tâm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Khách hàng &amp; Thú cưng: </a:t>
            </a:r>
            <a:r>
              <a:rPr sz="1200">
                <a:solidFill>
                  <a:srgbClr val="334155"/>
                </a:solidFill>
                <a:latin typeface="Segoe UI"/>
              </a:rPr>
              <a:t>Hồ sơ chi tiết, phân 4 hạng thành viên (Đồng, Bạc, Vàng, Bạch Kim).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Đặt lịch Spa &amp; Dịch vụ: </a:t>
            </a:r>
            <a:r>
              <a:rPr sz="1200">
                <a:solidFill>
                  <a:srgbClr val="334155"/>
                </a:solidFill>
                <a:latin typeface="Segoe UI"/>
              </a:rPr>
              <a:t>Quy trình 7 bước, phân công kỹ thuật viên, lịch biểu thông minh.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Bán hàng POS &amp; Kho hàng: </a:t>
            </a:r>
            <a:r>
              <a:rPr sz="1200">
                <a:solidFill>
                  <a:srgbClr val="334155"/>
                </a:solidFill>
                <a:latin typeface="Segoe UI"/>
              </a:rPr>
              <a:t>Bán hàng nhanh, quét mã, cảnh báo hết hàng, chặn trừ kho âm.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Dịch vụ &amp; Bảng giá: </a:t>
            </a:r>
            <a:r>
              <a:rPr sz="1200">
                <a:solidFill>
                  <a:srgbClr val="334155"/>
                </a:solidFill>
                <a:latin typeface="Segoe UI"/>
              </a:rPr>
              <a:t>Linh hoạt phân loại theo cân nặng/giống thú cưng, combo ưu đãi.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Báo cáo &amp; Thống kê: </a:t>
            </a:r>
            <a:r>
              <a:rPr sz="1200">
                <a:solidFill>
                  <a:srgbClr val="334155"/>
                </a:solidFill>
                <a:latin typeface="Segoe UI"/>
              </a:rPr>
              <a:t>Doanh thu trực quan, biểu đồ tăng trưởng, cảnh báo số liệu.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5925312"/>
            <a:ext cx="3099816" cy="36576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766E"/>
                </a:solidFill>
                <a:latin typeface="Segoe UI"/>
              </a:defRPr>
            </a:pPr>
            <a:r>
              <a:t>✔ 100% Chức năng đã kiểm thử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28431" y="1280160"/>
            <a:ext cx="3429000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3. KIẾN TRÚC CÔNG NGHỆ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Kiến trúc hệ thống chuẩn mực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3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Giao diện Frontend: </a:t>
            </a:r>
            <a:r>
              <a:rPr sz="1200">
                <a:solidFill>
                  <a:srgbClr val="334155"/>
                </a:solidFill>
                <a:latin typeface="Segoe UI"/>
              </a:rPr>
              <a:t>HTML5, CSS3, JavaScript ES6+, Bootstrap 5, Chart.js tương tác cao.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Dịch vụ Backend: </a:t>
            </a:r>
            <a:r>
              <a:rPr sz="1200">
                <a:solidFill>
                  <a:srgbClr val="334155"/>
                </a:solidFill>
                <a:latin typeface="Segoe UI"/>
              </a:rPr>
              <a:t>Node.js &amp; Express RESTful API, Routing phân quyền Middleware.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Cơ sở dữ liệu: </a:t>
            </a:r>
            <a:r>
              <a:rPr sz="1200">
                <a:solidFill>
                  <a:srgbClr val="334155"/>
                </a:solidFill>
                <a:latin typeface="Segoe UI"/>
              </a:rPr>
              <a:t>MongoDB / LocalStorage Mock DB, đồng bộ Real-time State.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Tài liệu hóa API: </a:t>
            </a:r>
            <a:r>
              <a:rPr sz="1200">
                <a:solidFill>
                  <a:srgbClr val="334155"/>
                </a:solidFill>
                <a:latin typeface="Segoe UI"/>
              </a:rPr>
              <a:t>Tích hợp Swagger UI / OpenAPI 3.0 chuẩn hóa đầu cuối.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Hiệu năng tối ưu: </a:t>
            </a:r>
            <a:r>
              <a:rPr sz="1200">
                <a:solidFill>
                  <a:srgbClr val="334155"/>
                </a:solidFill>
                <a:latin typeface="Segoe UI"/>
              </a:rPr>
              <a:t>Thời gian phản hồi &lt; 200ms, tải trang cực nhanh &lt; 1.5s.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5925312"/>
            <a:ext cx="3099816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4338CA"/>
                </a:solidFill>
                <a:latin typeface="Segoe UI"/>
              </a:defRPr>
            </a:pPr>
            <a:r>
              <a:t>⚡ Tương thích Đa nền tảng &amp; Di động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CHIẾN LƯỢC CHẤT LƯỢNG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Mục Tiêu &amp; Tiêu Chuẩn Đánh Giá Kiểm Thử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48656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🎯 MỤC TIÊU CHẤT LƯỢNG WEBSITE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Đảm bảo tính tin cậy, chính xác &amp; an toàn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Độ chính xác nghiệp vụ (100%): </a:t>
            </a:r>
            <a:r>
              <a:rPr sz="1300">
                <a:solidFill>
                  <a:srgbClr val="334155"/>
                </a:solidFill>
                <a:latin typeface="Segoe UI"/>
              </a:rPr>
              <a:t>Xử lý chuẩn xác các phép toán tính tiền POS, áp mã Voucher giảm giá, tính lũy kế chiết khấu không bị sai lệch số âm.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Tính toàn vẹn dữ liệu (Data Integrity): </a:t>
            </a:r>
            <a:r>
              <a:rPr sz="1300">
                <a:solidFill>
                  <a:srgbClr val="334155"/>
                </a:solidFill>
                <a:latin typeface="Segoe UI"/>
              </a:rPr>
              <a:t>Đảm bảo tồn kho không âm khi xuất hàng đồng thời; lịch hẹn Spa không bị trùng giờ hoặc phân nhầm nhân viên phụ trách.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Bảo mật &amp; Phân quyền: </a:t>
            </a:r>
            <a:r>
              <a:rPr sz="1300">
                <a:solidFill>
                  <a:srgbClr val="334155"/>
                </a:solidFill>
                <a:latin typeface="Segoe UI"/>
              </a:rPr>
              <a:t>Chặn truy cập trái phép vào trang quản trị Admin; vô hiệu hóa các lỗi injection, XSS trên form nhập liệu.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Trải nghiệm người dùng mượt mà: </a:t>
            </a:r>
            <a:r>
              <a:rPr sz="1300">
                <a:solidFill>
                  <a:srgbClr val="334155"/>
                </a:solidFill>
                <a:latin typeface="Segoe UI"/>
              </a:rPr>
              <a:t>Giao diện thân thiện, phản hồi tức thì, thông báo lỗi tiếng Việt rõ ràng dễ hiểu khi người dùng nhập sai thông tin.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4919472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75985"/>
                </a:solidFill>
                <a:latin typeface="Segoe UI"/>
              </a:defRPr>
            </a:pPr>
            <a:r>
              <a:t>★ Đạt chuẩn kiểm thử phần mềm ISO/IEC/IEEE 29119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99632" y="1280160"/>
            <a:ext cx="5248656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📊 MA TRẬN 240 CA KIỂM THỬ (TEST SUITE)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Phân bổ 3 cấp độ kiểm thử toàn diện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224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Unit Test (70 Ca kiểm thử): </a:t>
            </a:r>
            <a:r>
              <a:rPr sz="1300">
                <a:solidFill>
                  <a:srgbClr val="334155"/>
                </a:solidFill>
                <a:latin typeface="Segoe UI"/>
              </a:rPr>
              <a:t>Kiểm tra từng hàm, logic tính toán, validate định dạng email/SĐT, xử lý chuỗi và quản trị State dữ liệu.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Integration Test (70 Ca kiểm thử): </a:t>
            </a:r>
            <a:r>
              <a:rPr sz="1300">
                <a:solidFill>
                  <a:srgbClr val="334155"/>
                </a:solidFill>
                <a:latin typeface="Segoe UI"/>
              </a:rPr>
              <a:t>Kiểm tra tích hợp liên module: POS trừ kho, Lịch hẹn đẩy vào Lịch biểu, Phân quyền chặn truy cập, Client gọi API.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System Test (100 Ca kiểm thử): </a:t>
            </a:r>
            <a:r>
              <a:rPr sz="1300">
                <a:solidFill>
                  <a:srgbClr val="334155"/>
                </a:solidFill>
                <a:latin typeface="Segoe UI"/>
              </a:rPr>
              <a:t>Kiểm thử toàn diện E2E theo kịch bản người dùng thật, hiệu năng tải trang, kiểm thử phi chức năng và giao diện Responsive.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Tự động hóa (Test Automation): </a:t>
            </a:r>
            <a:r>
              <a:rPr sz="1300">
                <a:solidFill>
                  <a:srgbClr val="334155"/>
                </a:solidFill>
                <a:latin typeface="Segoe UI"/>
              </a:rPr>
              <a:t>Xây dựng kịch bản Automation Selenium WebDriver 4 &amp; TestNG, chụp ảnh bằng chứng và xuất báo cáo tự động.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5925312"/>
            <a:ext cx="4919472" cy="365760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47857"/>
                </a:solidFill>
                <a:latin typeface="Segoe UI"/>
              </a:defRPr>
            </a:pPr>
            <a:r>
              <a:t>✔ Hoàn thành 100% (240/240 Ca kiểm thử Pass)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PHƯƠNG PHÁP LUẬN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Quy Trình Kiểm Thử Phần Mềm Chuẩn 4 Giai Đoạn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254203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2542032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BƯỚC 01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PHÂN TÍCH YÊU CẦU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2212848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Khảo sát tài liệu: </a:t>
            </a:r>
            <a:r>
              <a:rPr sz="1200">
                <a:solidFill>
                  <a:srgbClr val="334155"/>
                </a:solidFill>
                <a:latin typeface="Segoe UI"/>
              </a:rPr>
              <a:t>Nghiên cứu yêu cầu nghiệp vụ website quản lý dịch vụ thú cưng.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Kỹ thuật thiết kế: </a:t>
            </a:r>
            <a:r>
              <a:rPr sz="1200">
                <a:solidFill>
                  <a:srgbClr val="334155"/>
                </a:solidFill>
                <a:latin typeface="Segoe UI"/>
              </a:rPr>
              <a:t>Phân tích giá trị biên (BVA) &amp; Phân vùng tương đương (EP).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Ma trận bao phủ: </a:t>
            </a:r>
            <a:r>
              <a:rPr sz="1200">
                <a:solidFill>
                  <a:srgbClr val="334155"/>
                </a:solidFill>
                <a:latin typeface="Segoe UI"/>
              </a:rPr>
              <a:t>Lập ma trận Traceability Matrix cho 6 phân hệ chức năng.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Tiêu chí hoàn thành: </a:t>
            </a:r>
            <a:r>
              <a:rPr sz="1200">
                <a:solidFill>
                  <a:srgbClr val="334155"/>
                </a:solidFill>
                <a:latin typeface="Segoe UI"/>
              </a:rPr>
              <a:t>Xác định rõ ràng điều kiện đầu vào và kết quả mong đợi.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2212848" cy="365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172A"/>
                </a:solidFill>
                <a:latin typeface="Segoe UI"/>
              </a:defRPr>
            </a:pPr>
            <a:r>
              <a:t>Giai đoạn 01 hoàn tất 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280160"/>
            <a:ext cx="254203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56432" y="1280160"/>
            <a:ext cx="2542032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BƯỚC 02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THIẾT KẾ TEST 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1024" y="2121408"/>
            <a:ext cx="2212848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Viết 240 Test Cases: </a:t>
            </a:r>
            <a:r>
              <a:rPr sz="1200">
                <a:solidFill>
                  <a:srgbClr val="334155"/>
                </a:solidFill>
                <a:latin typeface="Segoe UI"/>
              </a:rPr>
              <a:t>Xây dựng chi tiết trên Excel chuẩn quốc tế IEEE 829.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Định rõ Input/Output: </a:t>
            </a:r>
            <a:r>
              <a:rPr sz="1200">
                <a:solidFill>
                  <a:srgbClr val="334155"/>
                </a:solidFill>
                <a:latin typeface="Segoe UI"/>
              </a:rPr>
              <a:t>Dữ liệu thử nghiệm, điều kiện tiên quyết, kết quả mong đợi.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Phân bổ nhóm: </a:t>
            </a:r>
            <a:r>
              <a:rPr sz="1200">
                <a:solidFill>
                  <a:srgbClr val="334155"/>
                </a:solidFill>
                <a:latin typeface="Segoe UI"/>
              </a:rPr>
              <a:t>Phân chia cụ thể cho 3 thành viên phụ trách từng cấp độ.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Thẩm định chéo: </a:t>
            </a:r>
            <a:r>
              <a:rPr sz="1200">
                <a:solidFill>
                  <a:srgbClr val="334155"/>
                </a:solidFill>
                <a:latin typeface="Segoe UI"/>
              </a:rPr>
              <a:t>Thẩm định chất lượng kịch bản trước khi thực thi.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21024" y="5925312"/>
            <a:ext cx="2212848" cy="365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172A"/>
                </a:solidFill>
                <a:latin typeface="Segoe UI"/>
              </a:defRPr>
            </a:pPr>
            <a:r>
              <a:t>Giai đoạn 02 hoàn tất 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280160"/>
            <a:ext cx="254203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81344" y="1280160"/>
            <a:ext cx="2542032" cy="7315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BƯỚC 03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THỰC THI &amp; TỰ ĐỘNG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2121408"/>
            <a:ext cx="2212848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Thực thi Thủ công: </a:t>
            </a:r>
            <a:r>
              <a:rPr sz="1200">
                <a:solidFill>
                  <a:srgbClr val="334155"/>
                </a:solidFill>
                <a:latin typeface="Segoe UI"/>
              </a:rPr>
              <a:t>Thực hiện từng bước kiểm thử trên hệ thống thật.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Viết Automation: </a:t>
            </a:r>
            <a:r>
              <a:rPr sz="1200">
                <a:solidFill>
                  <a:srgbClr val="334155"/>
                </a:solidFill>
                <a:latin typeface="Segoe UI"/>
              </a:rPr>
              <a:t>Selenium 4, TestNG, mô hình Page Object Model (POM).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Ghi nhận Bug: </a:t>
            </a:r>
            <a:r>
              <a:rPr sz="1200">
                <a:solidFill>
                  <a:srgbClr val="334155"/>
                </a:solidFill>
                <a:latin typeface="Segoe UI"/>
              </a:rPr>
              <a:t>Log lỗi chi tiết, gắn mức độ nghiêm trọng và đính kèm ảnh chụp.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Kịch bản chạy .bat: </a:t>
            </a:r>
            <a:r>
              <a:rPr sz="1200">
                <a:solidFill>
                  <a:srgbClr val="334155"/>
                </a:solidFill>
                <a:latin typeface="Segoe UI"/>
              </a:rPr>
              <a:t>Tạo các file chạy tự động 1 click tiện lợi.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45936" y="5925312"/>
            <a:ext cx="2212848" cy="365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172A"/>
                </a:solidFill>
                <a:latin typeface="Segoe UI"/>
              </a:defRPr>
            </a:pPr>
            <a:r>
              <a:t>Giai đoạn 03 hoàn tất 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06256" y="1280160"/>
            <a:ext cx="254203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06256" y="1280160"/>
            <a:ext cx="2542032" cy="7315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BƯỚC 04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BÁO CÁO &amp; ĐÓNG LỖI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2121408"/>
            <a:ext cx="2212848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Kiểm thử lại (Retest): </a:t>
            </a:r>
            <a:r>
              <a:rPr sz="1200">
                <a:solidFill>
                  <a:srgbClr val="334155"/>
                </a:solidFill>
                <a:latin typeface="Segoe UI"/>
              </a:rPr>
              <a:t>Kiểm tra lại sau khi lỗi đã được sửa thành công.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Đánh giá độ phủ: </a:t>
            </a:r>
            <a:r>
              <a:rPr sz="1200">
                <a:solidFill>
                  <a:srgbClr val="334155"/>
                </a:solidFill>
                <a:latin typeface="Segoe UI"/>
              </a:rPr>
              <a:t>Tổng kết tỷ lệ Pass 100%, không còn lỗi nghiêm trọng.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Bàn giao tài liệu: </a:t>
            </a:r>
            <a:r>
              <a:rPr sz="1200">
                <a:solidFill>
                  <a:srgbClr val="334155"/>
                </a:solidFill>
                <a:latin typeface="Segoe UI"/>
              </a:rPr>
              <a:t>Hoàn thiện Word, Excel, Slide báo cáo đầy đủ.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Đóng phiếu lỗi: </a:t>
            </a:r>
            <a:r>
              <a:rPr sz="1200">
                <a:solidFill>
                  <a:srgbClr val="334155"/>
                </a:solidFill>
                <a:latin typeface="Segoe UI"/>
              </a:rPr>
              <a:t>Cập nhật trạng thái Closed cho 24/24 lỗi phát hiện.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70848" y="5925312"/>
            <a:ext cx="2212848" cy="365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172A"/>
                </a:solidFill>
                <a:latin typeface="Segoe UI"/>
              </a:defRPr>
            </a:pPr>
            <a:r>
              <a:t>Giai đoạn 04 hoàn tất 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TỔ CHỨC NHÂN SỰ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Bảng Phân Công Công Việc 3 Thành Viên Nhóm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29000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ĐẶNG VĂN MẠNH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TRƯỞNG NHÓM (MSV: 20232652)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Nhiệm vụ chính: </a:t>
            </a:r>
            <a:r>
              <a:rPr sz="1250">
                <a:solidFill>
                  <a:srgbClr val="334155"/>
                </a:solidFill>
                <a:latin typeface="Segoe UI"/>
              </a:rPr>
              <a:t>Chịu trách nhiệm Cấp độ 1 - Kiểm thử Đơn vị (70 Unit Test Cases).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Thiết kế ca kiểm thử: </a:t>
            </a:r>
            <a:r>
              <a:rPr sz="1250">
                <a:solidFill>
                  <a:srgbClr val="334155"/>
                </a:solidFill>
                <a:latin typeface="Segoe UI"/>
              </a:rPr>
              <a:t>Viết test case logic Xác thực, Khách hàng, Thú cưng, Sản phẩm, Dịch vụ, Bán hàng POS.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Xây dựng Automation: </a:t>
            </a:r>
            <a:r>
              <a:rPr sz="1250">
                <a:solidFill>
                  <a:srgbClr val="334155"/>
                </a:solidFill>
                <a:latin typeface="Segoe UI"/>
              </a:rPr>
              <a:t>Thiết lập Framework Selenium WebDriver 4, TestNG, cấu hình POM và file chạy .bat.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Quản lý dự án: </a:t>
            </a:r>
            <a:r>
              <a:rPr sz="1250">
                <a:solidFill>
                  <a:srgbClr val="334155"/>
                </a:solidFill>
                <a:latin typeface="Segoe UI"/>
              </a:rPr>
              <a:t>Tổng hợp kết quả, cấu hình GitHub Repository, điều phối tiến độ chung.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3099816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75985"/>
                </a:solidFill>
                <a:latin typeface="Segoe UI"/>
              </a:defRPr>
            </a:pPr>
            <a:r>
              <a:t>★ Đạt 100% Tiến độ • 70 UT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79976" y="1280160"/>
            <a:ext cx="3429000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TRẦN NGỌC SƠN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THÀNH VIÊN (MSV: 20232472)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Nhiệm vụ chính: </a:t>
            </a:r>
            <a:r>
              <a:rPr sz="1250">
                <a:solidFill>
                  <a:srgbClr val="334155"/>
                </a:solidFill>
                <a:latin typeface="Segoe UI"/>
              </a:rPr>
              <a:t>Chịu trách nhiệm Cấp độ 2 - Kiểm thử Tích hợp (70 Integration Test Cases).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Kiểm thử tích hợp: </a:t>
            </a:r>
            <a:r>
              <a:rPr sz="1250">
                <a:solidFill>
                  <a:srgbClr val="334155"/>
                </a:solidFill>
                <a:latin typeface="Segoe UI"/>
              </a:rPr>
              <a:t>Tích hợp State &amp; Giao diện (32 TC), Tích hợp POS &amp; Kho (22 TC), REST API &amp; Swagger (16 TC).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Báo cáo tài liệu: </a:t>
            </a:r>
            <a:r>
              <a:rPr sz="1250">
                <a:solidFill>
                  <a:srgbClr val="334155"/>
                </a:solidFill>
                <a:latin typeface="Segoe UI"/>
              </a:rPr>
              <a:t>Biên soạn tài liệu Word Báo cáo tổng kết, Danh mục Bảng biểu &amp; Sơ đồ chuẩn chỉnh.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Theo dõi Bug: </a:t>
            </a:r>
            <a:r>
              <a:rPr sz="1250">
                <a:solidFill>
                  <a:srgbClr val="334155"/>
                </a:solidFill>
                <a:latin typeface="Segoe UI"/>
              </a:rPr>
              <a:t>Quản lý vòng đời Bug tích hợp và kiểm tra hồi quy sau khi sửa.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5925312"/>
            <a:ext cx="3099816" cy="36576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766E"/>
                </a:solidFill>
                <a:latin typeface="Segoe UI"/>
              </a:defRPr>
            </a:pPr>
            <a:r>
              <a:t>★ Đạt 100% Tiến độ • 70 IT Pass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28432" y="1280160"/>
            <a:ext cx="3429000" cy="7315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NGÔ HOÀNG ANH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THÀNH VIÊN (MSV: 20232558)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4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Nhiệm vụ chính: </a:t>
            </a:r>
            <a:r>
              <a:rPr sz="1250">
                <a:solidFill>
                  <a:srgbClr val="334155"/>
                </a:solidFill>
                <a:latin typeface="Segoe UI"/>
              </a:rPr>
              <a:t>Chịu trách nhiệm Cấp độ 3 - Kiểm thử Hệ thống (100 System Test Cases).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Kiểm thử chức năng E2E: </a:t>
            </a:r>
            <a:r>
              <a:rPr sz="1250">
                <a:solidFill>
                  <a:srgbClr val="334155"/>
                </a:solidFill>
                <a:latin typeface="Segoe UI"/>
              </a:rPr>
              <a:t>60 ca kiểm thử luồng nghiệp vụ từ đăng nhập đến thanh toán và xuất báo cáo.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Kiểm thử phi chức năng: </a:t>
            </a:r>
            <a:r>
              <a:rPr sz="1250">
                <a:solidFill>
                  <a:srgbClr val="334155"/>
                </a:solidFill>
                <a:latin typeface="Segoe UI"/>
              </a:rPr>
              <a:t>40 ca kiểm thử Responsive, Tương thích trình duyệt, Bảo mật và Hiệu năng.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Thực thi Demo: </a:t>
            </a:r>
            <a:r>
              <a:rPr sz="1250">
                <a:solidFill>
                  <a:srgbClr val="334155"/>
                </a:solidFill>
                <a:latin typeface="Segoe UI"/>
              </a:rPr>
              <a:t>Kiểm tra thực tế giao diện, thu thập bằng chứng ảnh chụp và hoàn thiện Slide thuyết trình.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5925312"/>
            <a:ext cx="3099816" cy="36576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B45309"/>
                </a:solidFill>
                <a:latin typeface="Segoe UI"/>
              </a:defRPr>
            </a:pPr>
            <a:r>
              <a:t>★ Đạt 100% Tiến độ • 100 ST Pass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PHÂN TÍCH CHI TIẾT CẤP ĐỘ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Kiểm Thử Đơn Vị - Unit Test (70 Ca kiểm thử)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48656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📊 PHÂN BỐ 70 UNIT TEST THEO MODULE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Kiểm thử độc lập các hàm &amp; Store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Xác thực Auth (10 TC): </a:t>
            </a:r>
            <a:r>
              <a:rPr sz="1150">
                <a:solidFill>
                  <a:srgbClr val="334155"/>
                </a:solidFill>
                <a:latin typeface="Segoe UI"/>
              </a:rPr>
              <a:t>Đăng nhập, đăng xuất, phân quyền Role, regex email, kiểm tra phiên làm việc.</a:t>
            </a:r>
          </a:p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Quản lý Khách hàng (12 TC): </a:t>
            </a:r>
            <a:r>
              <a:rPr sz="1150">
                <a:solidFill>
                  <a:srgbClr val="334155"/>
                </a:solidFill>
                <a:latin typeface="Segoe UI"/>
              </a:rPr>
              <a:t>Thêm/sửa/xóa khách, sinh mã KH-xxxx, fallback email, 4 hạng thành viên.</a:t>
            </a:r>
          </a:p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Quản lý Thú cưng (8 TC): </a:t>
            </a:r>
            <a:r>
              <a:rPr sz="1150">
                <a:solidFill>
                  <a:srgbClr val="334155"/>
                </a:solidFill>
                <a:latin typeface="Segoe UI"/>
              </a:rPr>
              <a:t>Thêm/sửa thú cưng, cập nhật cân nặng, ghi chú dị ứng, tăng lần làm Spa.</a:t>
            </a:r>
          </a:p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Quản lý Sản phẩm (10 TC): </a:t>
            </a:r>
            <a:r>
              <a:rPr sz="1150">
                <a:solidFill>
                  <a:srgbClr val="334155"/>
                </a:solidFill>
                <a:latin typeface="Segoe UI"/>
              </a:rPr>
              <a:t>Sinh mã SKU, cập nhật tồn kho, chặn trừ kho âm (Math.max).</a:t>
            </a:r>
          </a:p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Quản lý Dịch vụ (6 TC): </a:t>
            </a:r>
            <a:r>
              <a:rPr sz="1150">
                <a:solidFill>
                  <a:srgbClr val="334155"/>
                </a:solidFill>
                <a:latin typeface="Segoe UI"/>
              </a:rPr>
              <a:t>Thêm/sửa giá dịch vụ, bật/tắt active, xóa an toàn, phân loại danh mục.</a:t>
            </a:r>
          </a:p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Bán hàng POS &amp; Đơn (16 TC): </a:t>
            </a:r>
            <a:r>
              <a:rPr sz="1150">
                <a:solidFill>
                  <a:srgbClr val="334155"/>
                </a:solidFill>
                <a:latin typeface="Segoe UI"/>
              </a:rPr>
              <a:t>Tính tổng tiền, áp voucher, tăng giảm giỏ hàng, trạng thái thanh toán.</a:t>
            </a:r>
          </a:p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Đặt lịch hẹn (8 TC): </a:t>
            </a:r>
            <a:r>
              <a:rPr sz="1150">
                <a:solidFill>
                  <a:srgbClr val="334155"/>
                </a:solidFill>
                <a:latin typeface="Segoe UI"/>
              </a:rPr>
              <a:t>Tạo lịch hẹn, sinh mã LH-xxxx, phân công nhân viên Spa, dời giờ.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4919472" cy="365760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47857"/>
                </a:solidFill>
                <a:latin typeface="Segoe UI"/>
              </a:defRPr>
            </a:pPr>
            <a:r>
              <a:t>✔ 70/70 Ca kiểm thử Pass (Tỷ lệ 100%)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99632" y="1280160"/>
            <a:ext cx="5248656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💡 CÁC CA KIỂM THỬ LOGIC TIÊU BIỂU</a:t>
            </a:r>
          </a:p>
          <a:p>
            <a:pPr>
              <a:defRPr sz="1100">
                <a:solidFill>
                  <a:srgbClr val="CCFBF1"/>
                </a:solidFill>
                <a:latin typeface="Segoe UI"/>
              </a:defRPr>
            </a:pPr>
            <a:r>
              <a:t>Minh chứng xử lý biên &amp; tính toàn vẹn dữ liệu hệ thống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4224" y="2121408"/>
            <a:ext cx="4919472" cy="11155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>
              <a:spcAft>
                <a:spcPts val="200"/>
              </a:spcAft>
              <a:defRPr sz="1250" b="1">
                <a:solidFill>
                  <a:srgbClr val="075985"/>
                </a:solidFill>
                <a:latin typeface="Segoe UI"/>
              </a:defRPr>
            </a:pPr>
            <a:r>
              <a:t>✔ UT_PROD_005: Chặn kho âm khi trừ vượt tồn</a:t>
            </a:r>
          </a:p>
          <a:p>
            <a:pPr>
              <a:lnSpc>
                <a:spcPct val="115000"/>
              </a:lnSpc>
              <a:defRPr sz="1100">
                <a:solidFill>
                  <a:srgbClr val="334155"/>
                </a:solidFill>
                <a:latin typeface="Segoe UI"/>
              </a:defRPr>
            </a:pPr>
            <a:r>
              <a:t>• Input: Tồn hiện tại = 10, Số lượng trừ = 25</a:t>
            </a:r>
            <a:br/>
            <a:r>
              <a:t>• Xử lý: Math.max(0, 10 - 25) = 0</a:t>
            </a:r>
            <a:br/>
            <a:r>
              <a:t>• Kết quả: Tồn kho an toàn = 0, không bị âm số lượng.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3346704"/>
            <a:ext cx="4919472" cy="11155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>
              <a:spcAft>
                <a:spcPts val="200"/>
              </a:spcAft>
              <a:defRPr sz="1250" b="1">
                <a:solidFill>
                  <a:srgbClr val="0F766E"/>
                </a:solidFill>
                <a:latin typeface="Segoe UI"/>
              </a:defRPr>
            </a:pPr>
            <a:r>
              <a:t>✔ UT_ORD_004: Tính tiền khi Voucher &gt; Tạm tính</a:t>
            </a:r>
          </a:p>
          <a:p>
            <a:pPr>
              <a:lnSpc>
                <a:spcPct val="115000"/>
              </a:lnSpc>
              <a:defRPr sz="1100">
                <a:solidFill>
                  <a:srgbClr val="334155"/>
                </a:solidFill>
                <a:latin typeface="Segoe UI"/>
              </a:defRPr>
            </a:pPr>
            <a:r>
              <a:t>• Input: Tạm tính = 100.000đ, Voucher = 150.000đ</a:t>
            </a:r>
            <a:br/>
            <a:r>
              <a:t>• Xử lý: Math.max(0, 100k - 150k) = 0 VNĐ</a:t>
            </a:r>
            <a:br/>
            <a:r>
              <a:t>• Kết quả: Tổng tiền = 0 VNĐ, không phát sinh số âm.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64224" y="4572000"/>
            <a:ext cx="4919472" cy="11155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>
              <a:spcAft>
                <a:spcPts val="200"/>
              </a:spcAft>
              <a:defRPr sz="1250" b="1">
                <a:solidFill>
                  <a:srgbClr val="B45309"/>
                </a:solidFill>
                <a:latin typeface="Segoe UI"/>
              </a:defRPr>
            </a:pPr>
            <a:r>
              <a:t>✔ UT_AUTH_003: Chặn vai trò Khách hàng vào Quản trị</a:t>
            </a:r>
          </a:p>
          <a:p>
            <a:pPr>
              <a:lnSpc>
                <a:spcPct val="115000"/>
              </a:lnSpc>
              <a:defRPr sz="1100">
                <a:solidFill>
                  <a:srgbClr val="334155"/>
                </a:solidFill>
                <a:latin typeface="Segoe UI"/>
              </a:defRPr>
            </a:pPr>
            <a:r>
              <a:t>• Input: email = 'khach@gmail.com', role = 'customer'</a:t>
            </a:r>
            <a:br/>
            <a:r>
              <a:t>• Xử lý: Router Guard kiểm tra quyền Nhân viên/Quản trị</a:t>
            </a:r>
            <a:br/>
            <a:r>
              <a:t>• Kết quả: Chặn truy cập, bảo vệ cổng quản trị an toàn.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224" y="5925312"/>
            <a:ext cx="4919472" cy="36576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766E"/>
                </a:solidFill>
                <a:latin typeface="Segoe UI"/>
              </a:defRPr>
            </a:pPr>
            <a:r>
              <a:t>★ Bảo vệ dữ liệu và logic an toàn tuyệt đối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PHÂN TÍCH CHI TIẾT CẤP ĐỘ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Kiểm Thử Tích Hợp - Integration Test (70 Ca kiểm thử)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29000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TÍCH HỢP STATE &amp; GIAO DIỆN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Quy mô: 32 Ca kiểm thử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Xác thực ↔ Điều hướng Menu: </a:t>
            </a:r>
            <a:r>
              <a:rPr sz="1300">
                <a:solidFill>
                  <a:srgbClr val="334155"/>
                </a:solidFill>
                <a:latin typeface="Segoe UI"/>
              </a:rPr>
              <a:t>Đăng nhập phân quyền tự động ẩn/hiện menu chức năng tương ứng.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Form Đặt lịch ↔ Lịch biểu: </a:t>
            </a:r>
            <a:r>
              <a:rPr sz="1300">
                <a:solidFill>
                  <a:srgbClr val="334155"/>
                </a:solidFill>
                <a:latin typeface="Segoe UI"/>
              </a:rPr>
              <a:t>Quy trình 7 bước đặt lịch Spa đồng bộ ngay lên lịch làm việc nhân viên.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Hoàn thành Spa ↔ Hồ sơ: </a:t>
            </a:r>
            <a:r>
              <a:rPr sz="1300">
                <a:solidFill>
                  <a:srgbClr val="334155"/>
                </a:solidFill>
                <a:latin typeface="Segoe UI"/>
              </a:rPr>
              <a:t>Sau khi trả thú cưng, tự động tăng số lần làm đẹp trong lịch sử (+1).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Đổi trạng thái ↔ Đổi màu Badge: </a:t>
            </a:r>
            <a:r>
              <a:rPr sz="1300">
                <a:solidFill>
                  <a:srgbClr val="334155"/>
                </a:solidFill>
                <a:latin typeface="Segoe UI"/>
              </a:rPr>
              <a:t>Thay đổi trạng thái đơn hàng/lịch hẹn tự động cập nhật màu sắc tức thì.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3099816" cy="365760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47857"/>
                </a:solidFill>
                <a:latin typeface="Segoe UI"/>
              </a:defRPr>
            </a:pPr>
            <a:r>
              <a:t>✔ 32/32 Ca kiểm thử Đạt (100%)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79976" y="1280160"/>
            <a:ext cx="3429000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TÍCH HỢP POS &amp; KHO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Quy mô: 22 Ca kiểm thử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Tạo đơn ↔ Trừ kho tức thời: </a:t>
            </a:r>
            <a:r>
              <a:rPr sz="1300">
                <a:solidFill>
                  <a:srgbClr val="334155"/>
                </a:solidFill>
                <a:latin typeface="Segoe UI"/>
              </a:rPr>
              <a:t>Xác nhận đơn hàng tại quầy POS lập tức trừ tồn kho tương ứng.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Kho về 0 ↔ Chặn thêm giỏ: </a:t>
            </a:r>
            <a:r>
              <a:rPr sz="1300">
                <a:solidFill>
                  <a:srgbClr val="334155"/>
                </a:solidFill>
                <a:latin typeface="Segoe UI"/>
              </a:rPr>
              <a:t>Khi sản phẩm hết hàng, tự động vô hiệu hóa nút '+ Thêm vào giỏ'.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Áp Voucher ↔ Tính lại tiền: </a:t>
            </a:r>
            <a:r>
              <a:rPr sz="1300">
                <a:solidFill>
                  <a:srgbClr val="334155"/>
                </a:solidFill>
                <a:latin typeface="Segoe UI"/>
              </a:rPr>
              <a:t>Chọn mã giảm giá tự động tính lại chiết khấu và tổng thanh toán.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Xuất hóa đơn ↔ Lệnh in: </a:t>
            </a:r>
            <a:r>
              <a:rPr sz="1300">
                <a:solidFill>
                  <a:srgbClr val="334155"/>
                </a:solidFill>
                <a:latin typeface="Segoe UI"/>
              </a:rPr>
              <a:t>Nút thanh toán tự động kích hoạt preview in nhiệt khổ chuẩn K80.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5925312"/>
            <a:ext cx="3099816" cy="365760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47857"/>
                </a:solidFill>
                <a:latin typeface="Segoe UI"/>
              </a:defRPr>
            </a:pPr>
            <a:r>
              <a:t>✔ 22/22 Ca kiểm thử Đạt (100%)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28431" y="1280160"/>
            <a:ext cx="3429000" cy="7315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CLIENT ↔ REST API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Quy mô: 16 Ca kiểm thử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3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Frontend ↔ GET /api/products: </a:t>
            </a:r>
            <a:r>
              <a:rPr sz="1300">
                <a:solidFill>
                  <a:srgbClr val="334155"/>
                </a:solidFill>
                <a:latin typeface="Segoe UI"/>
              </a:rPr>
              <a:t>Lấy danh sách sản phẩm trả về mã HTTP 200 OK kèm dữ liệu JSON.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Frontend ↔ POST /api/orders: </a:t>
            </a:r>
            <a:r>
              <a:rPr sz="1300">
                <a:solidFill>
                  <a:srgbClr val="334155"/>
                </a:solidFill>
                <a:latin typeface="Segoe UI"/>
              </a:rPr>
              <a:t>Tạo đơn hàng gửi lên máy chủ trả về HTTP 201 Created chuẩn xác.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Dashboard ↔ GET /api/stats: </a:t>
            </a:r>
            <a:r>
              <a:rPr sz="1300">
                <a:solidFill>
                  <a:srgbClr val="334155"/>
                </a:solidFill>
                <a:latin typeface="Segoe UI"/>
              </a:rPr>
              <a:t>Đồng bộ số liệu doanh thu và chỉ số thống kê theo thời gian thực.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Backend Express ↔ Swagger: </a:t>
            </a:r>
            <a:r>
              <a:rPr sz="1300">
                <a:solidFill>
                  <a:srgbClr val="334155"/>
                </a:solidFill>
                <a:latin typeface="Segoe UI"/>
              </a:rPr>
              <a:t>Tích hợp tài liệu hóa API chuẩn OpenAPI 3.0 trực quan.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5925312"/>
            <a:ext cx="3099816" cy="365760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47857"/>
                </a:solidFill>
                <a:latin typeface="Segoe UI"/>
              </a:defRPr>
            </a:pPr>
            <a:r>
              <a:t>✔ 16/16 Ca kiểm thử Đạt (100%)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PHÂN TÍCH CHI TIẾT CẤP ĐỘ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Kiểm Thử Hệ Thống - System Test (100 Ca kiểm thử)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48656" cy="7315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🖥️ KIỂM THỬ CHỨC NĂNG HỆ THỐNG (60 TC)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Kịch bản vận hành thực tế Toàn diện (E2E)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Luồng Đặt lịch Dịch vụ Spa (15 TC): </a:t>
            </a:r>
            <a:r>
              <a:rPr sz="1300">
                <a:solidFill>
                  <a:srgbClr val="334155"/>
                </a:solidFill>
                <a:latin typeface="Segoe UI"/>
              </a:rPr>
              <a:t>Khách vào web -&gt; Đặt lịch 7 bước -&gt; Phân công nhân viên -&gt; Thực hiện dịch vụ -&gt; Thanh toán POS -&gt; Lưu hồ sơ.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Luồng Bán hàng POS &amp; Kho (15 TC): </a:t>
            </a:r>
            <a:r>
              <a:rPr sz="1300">
                <a:solidFill>
                  <a:srgbClr val="334155"/>
                </a:solidFill>
                <a:latin typeface="Segoe UI"/>
              </a:rPr>
              <a:t>Quét mã SP -&gt; Thêm giỏ hàng -&gt; Chọn khách thành viên -&gt; Áp voucher -&gt; Thanh toán đa phương thức -&gt; In hóa đơn.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Luồng Quản trị Khách &amp; Thú cưng (15 TC): </a:t>
            </a:r>
            <a:r>
              <a:rPr sz="1300">
                <a:solidFill>
                  <a:srgbClr val="334155"/>
                </a:solidFill>
                <a:latin typeface="Segoe UI"/>
              </a:rPr>
              <a:t>Thêm mới chủ và pet -&gt; Tìm kiếm theo SĐT -&gt; Xếp hạng thành viên -&gt; Lịch sử khám chữa bệnh.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Luồng Quản lý Bảng giá &amp; Báo cáo (15 TC): </a:t>
            </a:r>
            <a:r>
              <a:rPr sz="1300">
                <a:solidFill>
                  <a:srgbClr val="334155"/>
                </a:solidFill>
                <a:latin typeface="Segoe UI"/>
              </a:rPr>
              <a:t>Cấu hình giá dịch vụ -&gt; Kiểm tra doanh thu ngày/tháng -&gt; Biểu đồ trực quan -&gt; Xuất báo cáo.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4919472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4338CA"/>
                </a:solidFill>
                <a:latin typeface="Segoe UI"/>
              </a:defRPr>
            </a:pPr>
            <a:r>
              <a:t>★ Hoàn thành xuất sắc 60/60 Ca kiểm thử E2E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99632" y="1280160"/>
            <a:ext cx="5248656" cy="731520"/>
          </a:xfrm>
          <a:prstGeom prst="round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⚡ KIỂM THỬ PHI CHỨC NĂNG &amp; UI/UX (40 TC)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Độ tin cậy, Hiệu năng, Bảo mật &amp; Trải nghiệm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224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Đa thiết bị Responsive (12 TC): </a:t>
            </a:r>
            <a:r>
              <a:rPr sz="1300">
                <a:solidFill>
                  <a:srgbClr val="334155"/>
                </a:solidFill>
                <a:latin typeface="Segoe UI"/>
              </a:rPr>
              <a:t>Hiển thị hoàn hảo trên Máy tính bàn (1920x1080), Laptop (1366x768), Máy tính bảng (768px) và Điện thoại (375px).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Tương thích Trình duyệt (8 TC): </a:t>
            </a:r>
            <a:r>
              <a:rPr sz="1300">
                <a:solidFill>
                  <a:srgbClr val="334155"/>
                </a:solidFill>
                <a:latin typeface="Segoe UI"/>
              </a:rPr>
              <a:t>Chạy ổn định, không lỗi hiển thị trên Google Chrome, Microsoft Edge, Mozilla Firefox.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Bảo mật &amp; Phân quyền (10 TC): </a:t>
            </a:r>
            <a:r>
              <a:rPr sz="1300">
                <a:solidFill>
                  <a:srgbClr val="334155"/>
                </a:solidFill>
                <a:latin typeface="Segoe UI"/>
              </a:rPr>
              <a:t>Chống SQL Injection, XSS trên form, bảo vệ dữ liệu cục bộ, tự động đăng xuất khi hết phiên làm việc.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Hiệu năng &amp; Tải trang (10 TC): </a:t>
            </a:r>
            <a:r>
              <a:rPr sz="1300">
                <a:solidFill>
                  <a:srgbClr val="334155"/>
                </a:solidFill>
                <a:latin typeface="Segoe UI"/>
              </a:rPr>
              <a:t>Thời gian tải trang ban đầu &lt; 1.5s, chuyển tab &lt; 100ms, tiêu thụ bộ nhớ RAM tối ưu.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5925312"/>
            <a:ext cx="4919472" cy="365760"/>
          </a:xfrm>
          <a:prstGeom prst="roundRect">
            <a:avLst/>
          </a:prstGeom>
          <a:solidFill>
            <a:srgbClr val="F3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7E22CE"/>
                </a:solidFill>
                <a:latin typeface="Segoe UI"/>
              </a:defRPr>
            </a:pPr>
            <a:r>
              <a:t>★ Đạt chuẩn kiểm thử phi chức năng chất lượng cao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TỰ ĐỘNG HÓA KIỂM THỬ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Khung Kiểm Thử Tự Động &amp; Thực Thi Trực Quan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29000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1. MÔ HÌNH POM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Page Object Model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Tách biệt mã nguồn: </a:t>
            </a:r>
            <a:r>
              <a:rPr sz="1250">
                <a:solidFill>
                  <a:srgbClr val="334155"/>
                </a:solidFill>
                <a:latin typeface="Segoe UI"/>
              </a:rPr>
              <a:t>Tách riêng Page Class (định vị phần tử UI) và Test Class (chứa logic kịch bản kiểm thử).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Dễ bảo trì &amp; Mở rộng: </a:t>
            </a:r>
            <a:r>
              <a:rPr sz="1250">
                <a:solidFill>
                  <a:srgbClr val="334155"/>
                </a:solidFill>
                <a:latin typeface="Segoe UI"/>
              </a:rPr>
              <a:t>Khi giao diện thay đổi chỉ cần cập nhật tại một file Page Object duy nhất.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Công nghệ áp dụng: </a:t>
            </a:r>
            <a:r>
              <a:rPr sz="1250">
                <a:solidFill>
                  <a:srgbClr val="334155"/>
                </a:solidFill>
                <a:latin typeface="Segoe UI"/>
              </a:rPr>
              <a:t>Selenium WebDriver 4, TestNG Framework, WebDriverManager tự động tải driver.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Thiết kế chuẩn mực: </a:t>
            </a:r>
            <a:r>
              <a:rPr sz="1250">
                <a:solidFill>
                  <a:srgbClr val="334155"/>
                </a:solidFill>
                <a:latin typeface="Segoe UI"/>
              </a:rPr>
              <a:t>Tuân thủ chặt chẽ nguyên lý SOLID và thiết kế module hướng đối tượng.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3099816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75985"/>
                </a:solidFill>
                <a:latin typeface="Segoe UI"/>
              </a:defRPr>
            </a:pPr>
            <a:r>
              <a:t>★ Cấu trúc chuẩn Enterprise Framework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79976" y="1280160"/>
            <a:ext cx="3429000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2. FILE THỰC THI .BAT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Chạy riêng biệt &amp; Toàn diện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RUN_UNIT_TEST.bat: </a:t>
            </a:r>
            <a:r>
              <a:rPr sz="1250">
                <a:solidFill>
                  <a:srgbClr val="334155"/>
                </a:solidFill>
                <a:latin typeface="Segoe UI"/>
              </a:rPr>
              <a:t>Thực thi toàn bộ 70 ca kiểm thử đơn vị logic.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RUN_INTEGRATION_TEST.bat: </a:t>
            </a:r>
            <a:r>
              <a:rPr sz="1250">
                <a:solidFill>
                  <a:srgbClr val="334155"/>
                </a:solidFill>
                <a:latin typeface="Segoe UI"/>
              </a:rPr>
              <a:t>Thực thi 70 ca kiểm thử tích hợp luồng dữ liệu.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RUN_SYSTEM_TEST.bat: </a:t>
            </a:r>
            <a:r>
              <a:rPr sz="1250">
                <a:solidFill>
                  <a:srgbClr val="334155"/>
                </a:solidFill>
                <a:latin typeface="Segoe UI"/>
              </a:rPr>
              <a:t>Thực thi 100 ca kiểm thử hệ thống E2E.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RUN_ALL_TESTS.bat: </a:t>
            </a:r>
            <a:r>
              <a:rPr sz="1250">
                <a:solidFill>
                  <a:srgbClr val="334155"/>
                </a:solidFill>
                <a:latin typeface="Segoe UI"/>
              </a:rPr>
              <a:t>Chạy trọn gói cả 3 cấp độ (240 Ca kiểm thử) chỉ với 1 click duy nhất.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5925312"/>
            <a:ext cx="3099816" cy="36576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766E"/>
                </a:solidFill>
                <a:latin typeface="Segoe UI"/>
              </a:defRPr>
            </a:pPr>
            <a:r>
              <a:t>✔ Sẵn sàng demo trực tiếp trước hội đồng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28431" y="1280160"/>
            <a:ext cx="3429000" cy="7315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3. QUAN SÁT TRỰC QUAN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Trình diễn trực tiếp trên Trình duyệt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3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Tự động mở Trình duyệt: </a:t>
            </a:r>
            <a:r>
              <a:rPr sz="1250">
                <a:solidFill>
                  <a:srgbClr val="334155"/>
                </a:solidFill>
                <a:latin typeface="Segoe UI"/>
              </a:rPr>
              <a:t>Trình duyệt Google Chrome tự động bật và điều hướng đến hệ thống.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Quan sát thao tác thật: </a:t>
            </a:r>
            <a:r>
              <a:rPr sz="1250">
                <a:solidFill>
                  <a:srgbClr val="334155"/>
                </a:solidFill>
                <a:latin typeface="Segoe UI"/>
              </a:rPr>
              <a:t>Thấy rõ chuột click, tự động điền form, chuyển trang và mở popup.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Báo cáo HTML &amp; Chụp ảnh: </a:t>
            </a:r>
            <a:r>
              <a:rPr sz="1250">
                <a:solidFill>
                  <a:srgbClr val="334155"/>
                </a:solidFill>
                <a:latin typeface="Segoe UI"/>
              </a:rPr>
              <a:t>TestNG Report xuất báo cáo thời gian thực, chụp màn hình tự động.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Độ tin cậy cao: </a:t>
            </a:r>
            <a:r>
              <a:rPr sz="1250">
                <a:solidFill>
                  <a:srgbClr val="334155"/>
                </a:solidFill>
                <a:latin typeface="Segoe UI"/>
              </a:rPr>
              <a:t>Khẳng định (Assert) kiểm tra chính xác từng phần tử và kết quả.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5925312"/>
            <a:ext cx="3099816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4338CA"/>
                </a:solidFill>
                <a:latin typeface="Segoe UI"/>
              </a:defRPr>
            </a:pPr>
            <a:r>
              <a:t>⚡ 100% Thao tác quan sát trực quan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KIỂM SOÁT CHẤT LƯỢNG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Quy Trình Quản Lý &amp; Xử Lý Lỗi (Vòng đời lỗi)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48656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🔄 VÒNG ĐỜI XỬ LÝ LỖI (DEFECT LIFECYCLE)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Quy trình 5 bước kiểm soát lỗi nghiêm ngặt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1. Mới (Phát hiện lỗi): </a:t>
            </a:r>
            <a:r>
              <a:rPr sz="1200">
                <a:solidFill>
                  <a:srgbClr val="334155"/>
                </a:solidFill>
                <a:latin typeface="Segoe UI"/>
              </a:rPr>
              <a:t>Tester phát hiện hành vi sai lệch, tạo phiếu báo lỗi với mô tả chi tiết các bước tái hiện (Steps to Reproduce).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2. Phân công (Assigned): </a:t>
            </a:r>
            <a:r>
              <a:rPr sz="1200">
                <a:solidFill>
                  <a:srgbClr val="334155"/>
                </a:solidFill>
                <a:latin typeface="Segoe UI"/>
              </a:rPr>
              <a:t>Gán lỗi cho Developer phụ trách module tương ứng, xác định độ nghiêm trọng (Nghiêm trọng / Cao / Trung bình).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3. Đã sửa (Fixed): </a:t>
            </a:r>
            <a:r>
              <a:rPr sz="1200">
                <a:solidFill>
                  <a:srgbClr val="334155"/>
                </a:solidFill>
                <a:latin typeface="Segoe UI"/>
              </a:rPr>
              <a:t>Developer chỉnh sửa mã nguồn, kiểm tra sơ bộ và đẩy bản cập nhật lên môi trường test.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4. Kiểm thử lại (Retest): </a:t>
            </a:r>
            <a:r>
              <a:rPr sz="1200">
                <a:solidFill>
                  <a:srgbClr val="334155"/>
                </a:solidFill>
                <a:latin typeface="Segoe UI"/>
              </a:rPr>
              <a:t>Tester thực thi lại đúng ca kiểm thử đã phát hiện lỗi để xác nhận lỗi đã được khắc phục hoàn toàn.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5. Đóng lỗi (Closed): </a:t>
            </a:r>
            <a:r>
              <a:rPr sz="1200">
                <a:solidFill>
                  <a:srgbClr val="334155"/>
                </a:solidFill>
                <a:latin typeface="Segoe UI"/>
              </a:rPr>
              <a:t>Lỗi được xác nhận giải quyết triệt để, cập nhật trạng thái Closed và lưu vào cơ sở dữ liệu lỗi.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4919472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75985"/>
                </a:solidFill>
                <a:latin typeface="Segoe UI"/>
              </a:defRPr>
            </a:pPr>
            <a:r>
              <a:t>★ Đảm bảo 100% lỗi phát hiện đều được xử lý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99632" y="1280160"/>
            <a:ext cx="5248656" cy="7315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📈 THỐNG KÊ &amp; KẾT QUẢ SỬA LỖI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Tổng hợp 24 lỗi đã xử lý thành công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224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Tổng số lỗi phát hiện: </a:t>
            </a:r>
            <a:r>
              <a:rPr sz="1300">
                <a:solidFill>
                  <a:srgbClr val="334155"/>
                </a:solidFill>
                <a:latin typeface="Segoe UI"/>
              </a:rPr>
              <a:t>24 lỗi (Bao gồm: 4 lỗi Logic tính tiền/kho, 8 lỗi Giao diện UI, 7 lỗi Validate Form, 5 lỗi Tích hợp).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Lỗi nghiêm trọng (Critical): </a:t>
            </a:r>
            <a:r>
              <a:rPr sz="1300">
                <a:solidFill>
                  <a:srgbClr val="334155"/>
                </a:solidFill>
                <a:latin typeface="Segoe UI"/>
              </a:rPr>
              <a:t>4/4 lỗi đã sửa xong 100% (Ví dụ: Chặn trừ kho âm, sửa tính sai tổng tiền voucher, lỗi mất phiên đăng nhập).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Lỗi trung bình &amp; Nhẹ: </a:t>
            </a:r>
            <a:r>
              <a:rPr sz="1300">
                <a:solidFill>
                  <a:srgbClr val="334155"/>
                </a:solidFill>
                <a:latin typeface="Segoe UI"/>
              </a:rPr>
              <a:t>20/20 lỗi giao diện responsive, thông báo lỗi tiếng Việt đã được tinh chỉnh hoàn thiện.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Hiện trạng bàn giao: </a:t>
            </a:r>
            <a:r>
              <a:rPr sz="1300">
                <a:solidFill>
                  <a:srgbClr val="334155"/>
                </a:solidFill>
                <a:latin typeface="Segoe UI"/>
              </a:rPr>
              <a:t>0 Lỗi Nghiêm trọng, 0 Lỗi Cao. Hệ thống vận hành cực kỳ mượt mà, sẵn sàng triển khai thực tế.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5925312"/>
            <a:ext cx="4919472" cy="365760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47857"/>
                </a:solidFill>
                <a:latin typeface="Segoe UI"/>
              </a:defRPr>
            </a:pPr>
            <a:r>
              <a:t>✔ Tỷ lệ đóng lỗi thành công: 100% (24/24 Closed)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ĐÁNH GIÁ NGHIỆM THU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Tổng Kết Kết Quả Kiểm Thử Đề Tài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2542032" cy="1783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  <a:defRPr sz="3800" b="1">
                <a:solidFill>
                  <a:srgbClr val="0369A1"/>
                </a:solidFill>
                <a:latin typeface="Segoe UI"/>
              </a:defRPr>
            </a:pPr>
            <a:r>
              <a:t>240</a:t>
            </a:r>
          </a:p>
          <a:p>
            <a:pPr algn="ctr">
              <a:defRPr sz="1300" b="1">
                <a:solidFill>
                  <a:srgbClr val="0F172A"/>
                </a:solidFill>
                <a:latin typeface="Segoe UI"/>
              </a:defRPr>
            </a:pPr>
            <a:r>
              <a:t>TỔNG CA KIỂM THỬ</a:t>
            </a:r>
          </a:p>
          <a:p>
            <a:pPr algn="ctr">
              <a:defRPr sz="1100">
                <a:solidFill>
                  <a:srgbClr val="334155"/>
                </a:solidFill>
                <a:latin typeface="Segoe UI"/>
              </a:defRPr>
            </a:pPr>
            <a:r>
              <a:t>Đơn vị + Tích hợp + Hệ thống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280160"/>
            <a:ext cx="2542032" cy="1783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  <a:defRPr sz="3800" b="1">
                <a:solidFill>
                  <a:srgbClr val="10B981"/>
                </a:solidFill>
                <a:latin typeface="Segoe UI"/>
              </a:defRPr>
            </a:pPr>
            <a:r>
              <a:t>100%</a:t>
            </a:r>
          </a:p>
          <a:p>
            <a:pPr algn="ctr">
              <a:defRPr sz="1300" b="1">
                <a:solidFill>
                  <a:srgbClr val="0F172A"/>
                </a:solidFill>
                <a:latin typeface="Segoe UI"/>
              </a:defRPr>
            </a:pPr>
            <a:r>
              <a:t>TỶ LỆ ĐẠT (PASS)</a:t>
            </a:r>
          </a:p>
          <a:p>
            <a:pPr algn="ctr">
              <a:defRPr sz="1100">
                <a:solidFill>
                  <a:srgbClr val="334155"/>
                </a:solidFill>
                <a:latin typeface="Segoe UI"/>
              </a:defRPr>
            </a:pPr>
            <a:r>
              <a:t>240/240 Ca kiểm thử đạt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280160"/>
            <a:ext cx="2542032" cy="1783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  <a:defRPr sz="3200" b="1">
                <a:solidFill>
                  <a:srgbClr val="4F46E5"/>
                </a:solidFill>
                <a:latin typeface="Segoe UI"/>
              </a:defRPr>
            </a:pPr>
            <a:r>
              <a:t>3 CẤP ĐỘ</a:t>
            </a:r>
          </a:p>
          <a:p>
            <a:pPr algn="ctr">
              <a:defRPr sz="1300" b="1">
                <a:solidFill>
                  <a:srgbClr val="0F172A"/>
                </a:solidFill>
                <a:latin typeface="Segoe UI"/>
              </a:defRPr>
            </a:pPr>
            <a:r>
              <a:t>PHẠM VI KIỂM THỬ</a:t>
            </a:r>
          </a:p>
          <a:p>
            <a:pPr algn="ctr">
              <a:defRPr sz="1100">
                <a:solidFill>
                  <a:srgbClr val="334155"/>
                </a:solidFill>
                <a:latin typeface="Segoe UI"/>
              </a:defRPr>
            </a:pPr>
            <a:r>
              <a:t>Toàn diện từ Mã nguồn đến UI/UX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280160"/>
            <a:ext cx="2542032" cy="1783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  <a:defRPr sz="3800" b="1">
                <a:solidFill>
                  <a:srgbClr val="0D9488"/>
                </a:solidFill>
                <a:latin typeface="Segoe UI"/>
              </a:defRPr>
            </a:pPr>
            <a:r>
              <a:t>0 LỖI</a:t>
            </a:r>
          </a:p>
          <a:p>
            <a:pPr algn="ctr"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LỖI TỒN ĐỌNG</a:t>
            </a:r>
          </a:p>
          <a:p>
            <a:pPr algn="ctr">
              <a:defRPr sz="1100">
                <a:solidFill>
                  <a:srgbClr val="334155"/>
                </a:solidFill>
                <a:latin typeface="Segoe UI"/>
              </a:defRPr>
            </a:pPr>
            <a:r>
              <a:t>Sẵn sàng đưa vào sử dụng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46120"/>
            <a:ext cx="10728655" cy="3154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3246120"/>
            <a:ext cx="10728655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🌟 KẾT LUẬN &amp; ĐÁNH GIÁ CHUNG CỦA NHÓM 9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Website Quản lý Cửa hàng Dịch vụ Thú cưng đáp ứng trọn vẹn mọi tiêu chuẩn chất lượng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087368"/>
            <a:ext cx="10399471" cy="1856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Chất lượng phần mềm vượt trội: </a:t>
            </a:r>
            <a:r>
              <a:rPr sz="1300">
                <a:solidFill>
                  <a:srgbClr val="334155"/>
                </a:solidFill>
                <a:latin typeface="Segoe UI"/>
              </a:rPr>
              <a:t>Hệ thống hoạt động ổn định, chính xác 100% trong mọi kịch bản bán hàng, quản lý kho, đặt lịch Spa và quản lý hồ sơ thú cưng.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Bảo mật &amp; Toàn vẹn dữ liệu: </a:t>
            </a:r>
            <a:r>
              <a:rPr sz="1300">
                <a:solidFill>
                  <a:srgbClr val="334155"/>
                </a:solidFill>
                <a:latin typeface="Segoe UI"/>
              </a:rPr>
              <a:t>Phân quyền chặt chẽ giữa Quản trị/Nhân viên/Khách hàng, chống kho âm, tính toán chiết khấu voucher chuẩn xác tuyệt đối.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Khả năng mở rộng cao: </a:t>
            </a:r>
            <a:r>
              <a:rPr sz="1300">
                <a:solidFill>
                  <a:srgbClr val="334155"/>
                </a:solidFill>
                <a:latin typeface="Segoe UI"/>
              </a:rPr>
              <a:t>Mã nguồn được cấu trúc module rõ ràng, dễ dàng tích hợp thêm cổng thanh toán trực tuyến hoặc Ứng dụng Di động.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Sẵn sàng triển khai thực tế: </a:t>
            </a:r>
            <a:r>
              <a:rPr sz="1300">
                <a:solidFill>
                  <a:srgbClr val="334155"/>
                </a:solidFill>
                <a:latin typeface="Segoe UI"/>
              </a:rPr>
              <a:t>Hệ thống đáp ứng hoàn hảo nhu cầu vận hành thực tế của các cửa hàng và chuỗi dịch vụ chăm sóc thú cưng hiện nay.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5925312"/>
            <a:ext cx="10399471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Segoe UI"/>
              </a:defRPr>
            </a:pPr>
            <a:r>
              <a:t>✔ ĐỒ ÁN HOÀN THÀNH XUẤT SẮC 100% TIÊU CHÍ ĐỀ RA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822960"/>
            <a:ext cx="9448495" cy="52120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/>
          <a:lstStyle/>
          <a:p>
            <a:pPr algn="ctr">
              <a:spcAft>
                <a:spcPts val="1200"/>
              </a:spcAft>
              <a:defRPr sz="3600" b="1">
                <a:solidFill>
                  <a:srgbClr val="38BDF8"/>
                </a:solidFill>
                <a:latin typeface="Segoe UI"/>
              </a:defRPr>
            </a:pPr>
            <a:r>
              <a:t>XIN TRÂN TRỌNG CẢM ƠN!</a:t>
            </a:r>
          </a:p>
          <a:p>
            <a:pPr algn="ctr">
              <a:spcAft>
                <a:spcPts val="2000"/>
              </a:spcAft>
              <a:defRPr sz="1600">
                <a:solidFill>
                  <a:srgbClr val="FFFFFF"/>
                </a:solidFill>
                <a:latin typeface="Segoe UI"/>
              </a:defRPr>
            </a:pPr>
            <a:r>
              <a:t>Cảm ơn Quý Thầy Cô và các bạn sinh viên đã chú ý lắng nghe bài thuyết trình của Nhóm 9!</a:t>
            </a:r>
          </a:p>
          <a:p>
            <a:pPr algn="ctr">
              <a:spcAft>
                <a:spcPts val="2000"/>
              </a:spcAft>
              <a:defRPr sz="2200" b="1">
                <a:solidFill>
                  <a:srgbClr val="FEF3C7"/>
                </a:solidFill>
                <a:latin typeface="Segoe UI"/>
              </a:defRPr>
            </a:pPr>
            <a:r>
              <a:t>❓ PHẦN HỎI &amp; ĐÁP (Q &amp; A)</a:t>
            </a:r>
          </a:p>
          <a:p>
            <a:pPr algn="ctr">
              <a:spcAft>
                <a:spcPts val="1000"/>
              </a:spcAft>
              <a:defRPr sz="1350">
                <a:solidFill>
                  <a:srgbClr val="94A3B8"/>
                </a:solidFill>
                <a:latin typeface="Segoe UI"/>
              </a:defRPr>
            </a:pPr>
            <a:r>
              <a:t>🔗 Mã nguồn &amp; Báo cáo đầy đủ trên GitHub: https://github.com/xuanmanh398/KiemThuPhanMem</a:t>
            </a:r>
          </a:p>
          <a:p>
            <a:pPr algn="ctr">
              <a:defRPr sz="1300" b="1">
                <a:solidFill>
                  <a:srgbClr val="CBD5E1"/>
                </a:solidFill>
                <a:latin typeface="Segoe UI"/>
              </a:defRPr>
            </a:pPr>
            <a:r>
              <a:t>Nhóm 9: Đặng Văn Mạnh (20232652) • Trần Ngọc Sơn (20232472) • Ngô Hoàng Anh (20232558) • Lớp: DCCNTT 14.C.3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